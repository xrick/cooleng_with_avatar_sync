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7265C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12204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17320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5A21B"/>
          </a:solidFill>
          <a:ln/>
        </p:spPr>
      </p:sp>
      <p:sp>
        <p:nvSpPr>
          <p:cNvPr id="6" name="Shape 4"/>
          <p:cNvSpPr/>
          <p:nvPr/>
        </p:nvSpPr>
        <p:spPr>
          <a:xfrm>
            <a:off x="1527048" y="141732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02536" y="1417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 · 即時唇形同步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B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整合步驟</a:t>
            </a:r>
            <a:pPr indent="0" marL="0">
              <a:buNone/>
            </a:pPr>
            <a:r>
              <a:rPr lang="en-US" sz="3000" dirty="0">
                <a:solidFill>
                  <a:srgbClr val="8FA0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＋　</a:t>
            </a:r>
            <a:pPr indent="0" marL="0">
              <a:buNone/>
            </a:pPr>
            <a:r>
              <a:rPr lang="en-US" sz="3000" b="1" dirty="0">
                <a:solidFill>
                  <a:srgbClr val="F5A2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技術原理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6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用大白話 · 比喻法 · Python，帶你看懂怎麼做、為什麼會動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 cooleng_with_avatar_sync　|　Cool English 英檢口說練習　|　2026-06-19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這個功能，其實就是兩件事疊在一起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822960" cy="64008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0CB5D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8105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會對嘴的虛擬主播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畫面上有一個數位人，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它的嘴型會跟著聲音一張一合，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看起來「就是它在說這段英文」。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就像新聞的虛擬主播 ——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嘴巴動得對，你才會相信它在講話。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rgbClr val="F5A21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06640" y="18105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卡拉OK 字幕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29400" y="2606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字幕一個字一個字「點亮」，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唸到哪個字，那個字就亮起來。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就像卡拉OK ——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歌詞跟著旋律變色，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你永遠知道現在唱到哪。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好消息：最難的兩樣「食材」，Azure 已經備好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822960" cy="64008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這個專案本來就用 Azure 來「合成語音」。它在發出聲音的同時，會順手交給你兩份資料：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109728" cy="3246120"/>
          </a:xfrm>
          <a:prstGeom prst="rect">
            <a:avLst/>
          </a:prstGeom>
          <a:solidFill>
            <a:srgbClr val="0CB5D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2148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嘴型清單（viseme）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每秒 60 格，告訴你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「這一刻嘴巴該擺什麼形狀」。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CB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對嘴用的「臉部動作說明書」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874520"/>
            <a:ext cx="109728" cy="3246120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06640" y="2148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單字碼錶（word boundary）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30175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每個英文單字，都附上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「從第幾毫秒唸到第幾毫秒」。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5A2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卡拉OK 高亮用的「計時表」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40680"/>
            <a:ext cx="11109960" cy="713232"/>
          </a:xfrm>
          <a:prstGeom prst="roundRect">
            <a:avLst>
              <a:gd name="adj" fmla="val 12821"/>
            </a:avLst>
          </a:prstGeom>
          <a:solidFill>
            <a:srgbClr val="E7F0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4406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</a:t>
            </a:r>
            <a:pPr indent="0" marL="0">
              <a:buNone/>
            </a:pPr>
            <a:r>
              <a:rPr lang="en-US" sz="1450" dirty="0">
                <a:solidFill>
                  <a:srgbClr val="2438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別人做這功能最貴的兩步，你直接「免費拿到」。剩下的工作 ≈ 把這兩份資料「擺盤」到畫面上。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整合五步驟：從「使用者開口」到「頭像開口」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822960" cy="64008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20240"/>
            <a:ext cx="2121408" cy="33832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7592" y="2194560"/>
            <a:ext cx="603504" cy="603504"/>
          </a:xfrm>
          <a:prstGeom prst="ellipse">
            <a:avLst/>
          </a:prstGeom>
          <a:solidFill>
            <a:srgbClr val="0CB5D6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07592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29718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邊想邊吐字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8368" y="38404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一個字一個字回覆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15184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21B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1920240"/>
            <a:ext cx="2121408" cy="33832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2194560"/>
            <a:ext cx="603504" cy="603504"/>
          </a:xfrm>
          <a:prstGeom prst="ellipse">
            <a:avLst/>
          </a:prstGeom>
          <a:solidFill>
            <a:srgbClr val="0CB5D6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93592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44368" y="29718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湊成一句就送去合成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944368" y="38404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看到句號才唸，才不會破碎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01184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21B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1920240"/>
            <a:ext cx="2121408" cy="33832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9592" y="2194560"/>
            <a:ext cx="603504" cy="603504"/>
          </a:xfrm>
          <a:prstGeom prst="ellipse">
            <a:avLst/>
          </a:prstGeom>
          <a:solidFill>
            <a:srgbClr val="F5A21B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79592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30368" y="29718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Azure 合成語音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230368" y="38404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同時附上 嘴型 + 單字碼錶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87184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21B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6640" y="1920240"/>
            <a:ext cx="2121408" cy="33832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65592" y="2194560"/>
            <a:ext cx="603504" cy="603504"/>
          </a:xfrm>
          <a:prstGeom prst="ellipse">
            <a:avLst/>
          </a:prstGeom>
          <a:solidFill>
            <a:srgbClr val="F5A21B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65592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16368" y="29718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頭像對嘴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16368" y="38404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照嘴型清單動嘴巴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73184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21B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92640" y="1920240"/>
            <a:ext cx="2121408" cy="33832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51592" y="2194560"/>
            <a:ext cx="603504" cy="603504"/>
          </a:xfrm>
          <a:prstGeom prst="ellipse">
            <a:avLst/>
          </a:prstGeom>
          <a:solidFill>
            <a:srgbClr val="F5A21B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451592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802368" y="29718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字幕逐字亮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802368" y="38404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照碼錶點亮目前單字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56235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24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③④⑤ 同時發生，且全部對齊「同一個時鐘」（音訊播放進度）—— 細節見技術原理篇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步驟細節（上）：把聲音「準時」做出來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822960" cy="64008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109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56232"/>
            <a:ext cx="603504" cy="603504"/>
          </a:xfrm>
          <a:prstGeom prst="ellipse">
            <a:avLst/>
          </a:prstGeom>
          <a:solidFill>
            <a:srgbClr val="0CB5D6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562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5819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逐句送、不逐字送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020824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像打字機，一個字一個字冒出來。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如果每蹦一個字就去唸，聲音會結巴。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24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所以「湊到一個句號」才整句送出 —— 頭像講話才順。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109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483864"/>
            <a:ext cx="603504" cy="603504"/>
          </a:xfrm>
          <a:prstGeom prst="ellipse">
            <a:avLst/>
          </a:prstGeom>
          <a:solidFill>
            <a:srgbClr val="0CB5D6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838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32095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第一句先衝、其餘排隊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648456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第一句一好就立刻開口，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後面幾句在背景繼續準備（像餐廳先上前菜）。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24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使用者幾乎感覺不到等待。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109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111496"/>
            <a:ext cx="603504" cy="603504"/>
          </a:xfrm>
          <a:prstGeom prst="ellipse">
            <a:avLst/>
          </a:prstGeom>
          <a:solidFill>
            <a:srgbClr val="F5A21B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1114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483717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Azure 順便給臉部資料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527608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送合成時多加一行設定（mstts:viseme），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Azure 就會連「嘴型清單」一起回傳。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24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單字碼錶則是預設就有，不用特別要。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步驟細節（下）：讓臉動起來，並推薦最省力的頭像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822960" cy="64008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7667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73352"/>
            <a:ext cx="566928" cy="566928"/>
          </a:xfrm>
          <a:prstGeom prst="ellipse">
            <a:avLst/>
          </a:prstGeom>
          <a:solidFill>
            <a:srgbClr val="F5A21B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5727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對嘴 = 拉動臉上的「拉桿」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把嘴型清單的數值，每秒 60 次套到頭像臉上。就像操控木偶，數字越大、嘴張越開。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537667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4536" y="1673352"/>
            <a:ext cx="566928" cy="566928"/>
          </a:xfrm>
          <a:prstGeom prst="ellipse">
            <a:avLst/>
          </a:prstGeom>
          <a:solidFill>
            <a:srgbClr val="F5A21B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74536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87768" y="15727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字幕 = 看碼錶點名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7688" y="2377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播放時不停問「現在第幾毫秒？」，落在哪個單字的區間，就把那個字點亮。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109960" cy="2697480"/>
          </a:xfrm>
          <a:prstGeom prst="roundRect">
            <a:avLst>
              <a:gd name="adj" fmla="val 4068"/>
            </a:avLst>
          </a:prstGeom>
          <a:solidFill>
            <a:srgbClr val="0E1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429000"/>
            <a:ext cx="128016" cy="2697480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118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推薦做法：3D 卡通頭像（TalkingHead.js）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A2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比喻：</a:t>
            </a:r>
            <a:pPr indent="0" marL="0">
              <a:buNone/>
            </a:pPr>
            <a:r>
              <a:rPr lang="en-US" sz="1450" dirty="0">
                <a:solidFill>
                  <a:srgbClr val="D9E2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像給一個「3D 木偶」戴上 Azure 給的嘴型，全程在瀏覽器裡跑，不用昂貴的 GPU 主機。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14400" y="489204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17265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89204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B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開源 · MIT 可商用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11880" y="489204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17265C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489204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B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 GPU、純前端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489204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17265C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89204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2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與現有 Azure 最契合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06840" y="489204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17265C"/>
          </a:solidFill>
          <a:ln/>
        </p:spPr>
      </p:sp>
      <p:sp>
        <p:nvSpPr>
          <p:cNvPr id="25" name="Text 23"/>
          <p:cNvSpPr/>
          <p:nvPr/>
        </p:nvSpPr>
        <p:spPr>
          <a:xfrm>
            <a:off x="9006840" y="489204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2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手機可自動降級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596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想要「真人臉」時，再改用 MuseTalk（需 GPU 後端）—— 兩條路報告都寫好了。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先做哪些？先搭骨架，再裝潢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822960" cy="64008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不用一次到位。像蓋房子：先把會動、會亮的「骨架」做出來，之後再美化。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21408" cy="30175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9050">
            <a:solidFill>
              <a:srgbClr val="0CB5D6"/>
            </a:solidFill>
            <a:prstDash val="solid"/>
          </a:ln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3317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286207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打通水管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38328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改造語音模組，讓它吐出嘴型與碼錶，並露出「播放時鐘」。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2121408" cy="30175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9050">
            <a:solidFill>
              <a:srgbClr val="0CB5D6"/>
            </a:solidFill>
            <a:prstDash val="solid"/>
          </a:ln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4368" y="23317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44368" y="286207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逐字字幕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99232" y="338328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先做卡拉OK 高亮（還沒有臉）。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20640" y="2148840"/>
            <a:ext cx="2121408" cy="30175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9050">
            <a:solidFill>
              <a:srgbClr val="0CB5D6"/>
            </a:solidFill>
            <a:prstDash val="solid"/>
          </a:ln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30368" y="23317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30368" y="286207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頭像對嘴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85232" y="338328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裝上會動嘴的數位人。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06640" y="2148840"/>
            <a:ext cx="2121408" cy="3017520"/>
          </a:xfrm>
          <a:prstGeom prst="roundRect">
            <a:avLst>
              <a:gd name="adj" fmla="val 4310"/>
            </a:avLst>
          </a:prstGeom>
          <a:solidFill>
            <a:srgbClr val="ECF0F6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23317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516368" y="286207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接進對話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71232" y="338328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串流 + 中途可打斷。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92640" y="2148840"/>
            <a:ext cx="2121408" cy="3017520"/>
          </a:xfrm>
          <a:prstGeom prst="roundRect">
            <a:avLst>
              <a:gd name="adj" fmla="val 4310"/>
            </a:avLst>
          </a:prstGeom>
          <a:solidFill>
            <a:srgbClr val="ECF0F6"/>
          </a:solidFill>
          <a:ln w="12700">
            <a:solidFill>
              <a:srgbClr val="D5D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2368" y="23317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02368" y="286207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保存與降級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57232" y="338328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逐字回放、低階裝置自動退級。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109960" cy="713232"/>
          </a:xfrm>
          <a:prstGeom prst="roundRect">
            <a:avLst>
              <a:gd name="adj" fmla="val 12821"/>
            </a:avLst>
          </a:prstGeom>
          <a:solidFill>
            <a:srgbClr val="17245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4406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2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MVP = P0 + P1 + P2　</a:t>
            </a:r>
            <a:pPr indent="0" marL="0">
              <a:buNone/>
            </a:pPr>
            <a:r>
              <a:rPr lang="en-US" sz="1500" dirty="0">
                <a:solidFill>
                  <a:srgbClr val="E2E9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就能看到影片裡的效果（頭像對嘴＋逐字字幕），而且完全不需要 GPU。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108960"/>
            <a:ext cx="4754880" cy="4754880"/>
          </a:xfrm>
          <a:prstGeom prst="ellipse">
            <a:avLst/>
          </a:prstGeom>
          <a:solidFill>
            <a:srgbClr val="17265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CB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技術原理：為什麼它會動？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6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三個原理，全部用「大白話 ＋ 比喻 ＋ Python」說清楚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29768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17265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407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2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原理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4718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2E9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對嘴 = 拉動臉上的拉桿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80560" y="429768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17265C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4407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2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原理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4718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2E9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字幕 = 每個字的碼錶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429768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17265C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4407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2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原理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3880" y="4718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2E9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 = 聽同一位指揮家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8FA0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原理一：對嘴 ＝ 拉動臉上 55 根「拉桿」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822960" cy="64008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4526280" cy="46177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0CB5D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比喻：操控木偶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想像頭像的臉上有 55 根小拉桿：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jawOpen（下巴張開）、mouthSmile…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Azure 每秒給你 60 組數字，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每個數字 0~1，代表「這根拉桿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要拉多少」。1 = 全開，0 = 不動。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0E7C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把數字套上去 → 嘴就動了。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fps 連續播，就像翻頁動畫。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49240" y="1463040"/>
            <a:ext cx="6309360" cy="4617720"/>
          </a:xfrm>
          <a:prstGeom prst="roundRect">
            <a:avLst>
              <a:gd name="adj" fmla="val 1980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69164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5797296" y="169164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016752" y="169164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Python（示意）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23560" y="2103120"/>
            <a:ext cx="5897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Azure 合成語音時，順便吐出「臉部拉桿」數值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on_viseme(evt):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 = json.loads(evt.animation)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BlendShapes：每幀 55 個 0~1 的數字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shapes in frame["BlendShapes"]: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avatar.apply(shapes)   # 套到 3D 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synthesizer.viseme_received.connect(on_viseme)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白話：拉桿值越大，嘴張越開；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每秒換 60 次 → 看起來就在說話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原理二：逐字字幕 ＝ 每個字一支「碼錶」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822960" cy="64008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4526280" cy="46177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5A21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比喻：賽跑計時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每個英文單字都帶兩個時間：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幾毫秒「開始唸」、唸「多久」。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Azure 給的是 tick（1 tick=100奈秒），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÷ 10000 就變成毫秒。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播放時不斷問「現在第幾毫秒？」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B079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落在哪個字的區間 → 點亮那個字。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這就是卡拉OK 高亮的全部秘密。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49240" y="1463040"/>
            <a:ext cx="6309360" cy="4617720"/>
          </a:xfrm>
          <a:prstGeom prst="roundRect">
            <a:avLst>
              <a:gd name="adj" fmla="val 1980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69164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5797296" y="169164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016752" y="169164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Python（示意）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23560" y="2103120"/>
            <a:ext cx="5897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每個字都有自己的「碼錶」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on_word(evt):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 = evt.audio_offset / 10000   # tick→ms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  = start + evt.duration / 10000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words.append((evt.text, start, end))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synthesizer.synthesis_word_boundary \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.connect(on_word)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播放時：看現在時間，點亮對應單字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on_tick(now_ms):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text, start, end in words: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start &lt;= now_ms &lt;= end: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highlight(text)   # 卡拉OK 高亮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原理三：同步 ＝ 大家聽「同一位指揮家」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822960" cy="64008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4526280" cy="46177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0E7C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比喻：樂團指揮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嘴型、字幕、聲音三軌要對齊，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秘訣只有一個：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E7C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都看「同一個時鐘」。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這個時鐘 = 音訊播到第幾毫秒。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A2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指揮家（聲音）打拍子，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樂手（嘴型、字幕）跟著走 ——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B6B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誰都不准自己亂跑，就不會走鐘。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49240" y="1463040"/>
            <a:ext cx="6309360" cy="4617720"/>
          </a:xfrm>
          <a:prstGeom prst="roundRect">
            <a:avLst>
              <a:gd name="adj" fmla="val 1980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14300" dist="38100" dir="8100000">
              <a:srgbClr val="0A143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69164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5797296" y="169164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016752" y="169164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Python（示意）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23560" y="2103120"/>
            <a:ext cx="5897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唯一的真實時間 = 音訊播放進度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 = audio.current_time_ms()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嘴型 對齊這個時間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avatar.show_frame_at(clock)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字幕 對齊這個時間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subtitle.highlight_at(clock)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全部跟著同一個 clock →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聲音、嘴型、字幕 不會各走各的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777240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5A21B"/>
          </a:solidFill>
          <a:ln/>
        </p:spPr>
      </p:sp>
      <p:sp>
        <p:nvSpPr>
          <p:cNvPr id="4" name="Shape 2"/>
          <p:cNvSpPr/>
          <p:nvPr/>
        </p:nvSpPr>
        <p:spPr>
          <a:xfrm>
            <a:off x="1527048" y="77724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02536" y="777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B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難的資料 Azure 已備好；我們只要把它「擺盤」到頭像和字幕上。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4983480" cy="2331720"/>
          </a:xfrm>
          <a:prstGeom prst="roundRect">
            <a:avLst>
              <a:gd name="adj" fmla="val 4706"/>
            </a:avLst>
          </a:prstGeom>
          <a:solidFill>
            <a:srgbClr val="17265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971800"/>
            <a:ext cx="109728" cy="2331720"/>
          </a:xfrm>
          <a:prstGeom prst="rect">
            <a:avLst/>
          </a:prstGeom>
          <a:solidFill>
            <a:srgbClr val="0CB5D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154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B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 A（推薦先做）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74904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9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卡通頭像 · TalkingHead.js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9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 GPU、純前端、MIT 可商用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9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直接做 MVP（P0–P2）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0" y="2971800"/>
            <a:ext cx="4983480" cy="2331720"/>
          </a:xfrm>
          <a:prstGeom prst="roundRect">
            <a:avLst>
              <a:gd name="adj" fmla="val 4706"/>
            </a:avLst>
          </a:prstGeom>
          <a:solidFill>
            <a:srgbClr val="17265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971800"/>
            <a:ext cx="109728" cy="2331720"/>
          </a:xfrm>
          <a:prstGeom prst="rect">
            <a:avLst/>
          </a:prstGeom>
          <a:solidFill>
            <a:srgbClr val="F5A21B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154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2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 B（要真人臉再走）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374904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9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MuseTalk 即時 2D 真人臉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9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 GPU 後端 + 串流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9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體驗驗證後再投入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看完後，告訴我先走哪一條 —— 即可進入實作。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數位人頭像唇形同步</a:t>
            </a:r>
            <a:pPr algn="r" indent="0" marL="0">
              <a:buNone/>
            </a:pPr>
            <a:r>
              <a:rPr lang="en-US" sz="900" dirty="0">
                <a:solidFill>
                  <a:srgbClr val="8FA0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·   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數位人頭像唇形同步：整合步驟與技術原理</dc:title>
  <dc:subject>PptxGenJS Presentation</dc:subject>
  <dc:creator>Claude</dc:creator>
  <cp:lastModifiedBy>Claude</cp:lastModifiedBy>
  <cp:revision>1</cp:revision>
  <dcterms:created xsi:type="dcterms:W3CDTF">2026-06-20T07:42:09Z</dcterms:created>
  <dcterms:modified xsi:type="dcterms:W3CDTF">2026-06-20T07:42:09Z</dcterms:modified>
</cp:coreProperties>
</file>